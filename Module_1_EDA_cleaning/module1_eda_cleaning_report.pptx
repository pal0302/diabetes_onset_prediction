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C39A"/>
    <a:srgbClr val="107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5001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2E"/>
          </a:solidFill>
          <a:ln/>
        </p:spPr>
        <p:txBody>
          <a:bodyPr/>
          <a:lstStyle/>
          <a:p>
            <a:endParaRPr lang="en-IN" dirty="0">
              <a:solidFill>
                <a:srgbClr val="02C39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ONSET PREDICTION</a:t>
            </a:r>
            <a:endParaRPr lang="en-US" sz="1800" dirty="0">
              <a:solidFill>
                <a:srgbClr val="02C39A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Module 1: Understanding the dataset and EDA in Python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strategy, missing-data diagnosis, and exploratory findings on the Pima Indians Diabetes dataset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Module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10707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Audit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1305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structure, class balance, and data quality checks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640080" cy="640080"/>
          </a:xfrm>
          <a:prstGeom prst="ellipse">
            <a:avLst/>
          </a:prstGeom>
          <a:solidFill>
            <a:srgbClr val="10707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Missing-Data Problem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2783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biologically-impossible zeros as disguised missing values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640080" cy="640080"/>
          </a:xfrm>
          <a:prstGeom prst="ellipse">
            <a:avLst/>
          </a:prstGeom>
          <a:solidFill>
            <a:srgbClr val="107070"/>
          </a:solidFill>
          <a:ln/>
        </p:spPr>
        <p:txBody>
          <a:bodyPr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155448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Strategy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3251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train/test split, imputation, and outlier treatment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640080" cy="640080"/>
          </a:xfrm>
          <a:prstGeom prst="ellipse">
            <a:avLst/>
          </a:prstGeom>
          <a:solidFill>
            <a:srgbClr val="10707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20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074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54223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correlations, and class-separating features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Onset Prediction  |  Module 1: Data Understanding &amp; EDA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AUDIT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Compact, Imbalanced Clinical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2F7F6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37560" y="2971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2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126480" y="2971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2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15400" y="2971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Prevalence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Onset Prediction  |  Module 1: Data Understanding &amp; EDA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Data, Disguised as Zeros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of 0 for Glucose, Blood Pressure, Skin Thickness, Insulin, or BMI is not a low reading — it is not physiologically possible in a living patient. These are treated as missing, not as outliers.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635240" y="2194560"/>
            <a:ext cx="164592" cy="16459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206654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09560" y="23591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48.7% missing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35240" y="3063240"/>
            <a:ext cx="164592" cy="16459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10" name="Text 7"/>
          <p:cNvSpPr/>
          <p:nvPr/>
        </p:nvSpPr>
        <p:spPr>
          <a:xfrm>
            <a:off x="7909560" y="29352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Thickness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09560" y="32278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29.6% missing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3931920"/>
            <a:ext cx="164592" cy="164592"/>
          </a:xfrm>
          <a:prstGeom prst="ellipse">
            <a:avLst/>
          </a:prstGeom>
          <a:solidFill>
            <a:srgbClr val="92D050"/>
          </a:solidFill>
          <a:ln/>
        </p:spPr>
      </p:sp>
      <p:sp>
        <p:nvSpPr>
          <p:cNvPr id="13" name="Text 10"/>
          <p:cNvSpPr/>
          <p:nvPr/>
        </p:nvSpPr>
        <p:spPr>
          <a:xfrm>
            <a:off x="7909560" y="38039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09560" y="40965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 missing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4800600"/>
            <a:ext cx="164592" cy="164592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6" name="Text 13"/>
          <p:cNvSpPr/>
          <p:nvPr/>
        </p:nvSpPr>
        <p:spPr>
          <a:xfrm>
            <a:off x="7909560" y="46725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/ Glucose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909560" y="49651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 missing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635240" y="55778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and Skin Thickness missingness co-occur strongly (correlation 0.67) — suggesting a shared cause, such as a test not administered, rather than random nulls.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Onset Prediction  |  Module 1: Data Understanding &amp; EDA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76F7D5C-E900-76B0-1C26-9DA8DB3F8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6559062" cy="4023360"/>
          </a:xfrm>
          <a:prstGeom prst="rect">
            <a:avLst/>
          </a:prstGeom>
          <a:solidFill>
            <a:srgbClr val="107070"/>
          </a:solidFill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10707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7830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before imputing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00600" y="1783080"/>
            <a:ext cx="6629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(80/20) happens first, so imputation statistics are learned only from training data — no leakage into the test set.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108960"/>
            <a:ext cx="548640" cy="548640"/>
          </a:xfrm>
          <a:prstGeom prst="ellipse">
            <a:avLst/>
          </a:prstGeom>
          <a:solidFill>
            <a:srgbClr val="10707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971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2971800"/>
            <a:ext cx="6629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and Skin Thickness are right-skewed — the median resists distortion from extreme values that the mean would absorb.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2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297680"/>
            <a:ext cx="548640" cy="548640"/>
          </a:xfrm>
          <a:prstGeom prst="ellipse">
            <a:avLst/>
          </a:prstGeom>
          <a:solidFill>
            <a:srgbClr val="10707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160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target-based imputation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4160520"/>
            <a:ext cx="6629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Imputing by Outcome group is not valid: a real new patient has no known Outcome to condition on. That approach doesn’t generalize to deployment.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486400"/>
            <a:ext cx="548640" cy="548640"/>
          </a:xfrm>
          <a:prstGeom prst="ellipse">
            <a:avLst/>
          </a:prstGeom>
          <a:solidFill>
            <a:srgbClr val="10707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86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5349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as a feature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00600" y="5349240"/>
            <a:ext cx="6629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Insulin_missing and SkinThickness_missing indicator flags preserve the signal in whether a value was recorded at all.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Onset Prediction  |  Module 1: Data Understanding &amp; EDA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Distributions by Outcome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Onset Prediction  |  Module 1: Data Understanding &amp; EDA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AFAFEB-7A07-C578-F6CF-72016BD87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11861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Correlates With Diabetes Onset?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94944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49440" y="20574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single correlate with Outcome — consistent with clinical expectation.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949440" y="2788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49440" y="31089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Second-strongest correlate; moderate positive relationship.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49440" y="3840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Pregnancies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49440" y="41605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correlated with each other, as expected physiologically — worth watching for multicollinearity in linear models.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949440" y="4892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Thickness &amp; BMI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49440" y="52120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with each other; a candidate for feature engineering or redundancy checks in Module 2.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Onset Prediction  |  Module 1: Data Understanding &amp; EDA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93D54A-7272-9669-FD8B-2A65FF65A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597876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Treatment — and a Bug We Caught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949440" y="1554480"/>
            <a:ext cx="4663440" cy="4663440"/>
          </a:xfrm>
          <a:prstGeom prst="roundRect">
            <a:avLst>
              <a:gd name="adj" fmla="val 1569"/>
            </a:avLst>
          </a:prstGeom>
          <a:solidFill>
            <a:srgbClr val="F2F7F6"/>
          </a:solidFill>
          <a:ln/>
        </p:spPr>
      </p:sp>
      <p:sp>
        <p:nvSpPr>
          <p:cNvPr id="6" name="Text 3"/>
          <p:cNvSpPr/>
          <p:nvPr/>
        </p:nvSpPr>
        <p:spPr>
          <a:xfrm>
            <a:off x="722376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Finding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23760" y="214884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IQR bounds </a:t>
            </a:r>
            <a:r>
              <a:rPr lang="en-US" sz="1300" i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imputing Insulin flagged 41% of records as “outliers.” That's a false signal: half the column was one repeated median value, which skewed the interquartile range itself.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23760" y="39319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IQR bounds are computed only from originally observed values, then applied to the full column. Result: Insulin's flagged outliers dropped from 253 to 17 records.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Onset Prediction  |  Module 1: Data Understanding &amp; EDA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34158F0-A228-FA1F-6CC0-BA1CC4299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126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Separate the Two Classes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48463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and BMI show the clearest median separation between classes. Age shows a modest shift; Insulin's overlap is wide, consistent with its high missingness and noisier imputed values.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Onset Prediction  |  Module 1: Data Understanding &amp; EDA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0DD2B6-050E-1DFB-0BAA-87044A573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109728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Is Understood, Cleaned, and Leak-Proof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99339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 training / 154 test records, stratified 80/20 split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4203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zeros in 5 columns identified and imputed (train-fit median)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09067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Insulin_missing &amp; SkinThickness_missing indicators added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63931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bounds corrected to use observed-only data — realistic capping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2103120"/>
            <a:ext cx="0" cy="2377440"/>
          </a:xfrm>
          <a:prstGeom prst="line">
            <a:avLst/>
          </a:prstGeom>
          <a:noFill/>
          <a:ln w="12700">
            <a:solidFill>
              <a:srgbClr val="3A4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2450592"/>
            <a:ext cx="47548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and Feature Engineering.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Onset Prediction  |  Module 1: Data Understanding &amp; EDA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695</Words>
  <Application>Microsoft Office PowerPoint</Application>
  <PresentationFormat>Widescreen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Priyanshu Paul</cp:lastModifiedBy>
  <cp:revision>5</cp:revision>
  <dcterms:created xsi:type="dcterms:W3CDTF">2026-07-20T07:31:35Z</dcterms:created>
  <dcterms:modified xsi:type="dcterms:W3CDTF">2026-07-26T20:00:36Z</dcterms:modified>
</cp:coreProperties>
</file>